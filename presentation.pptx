
<file path=[Content_Types].xml><?xml version="1.0" encoding="utf-8"?>
<Types xmlns="http://schemas.openxmlformats.org/package/2006/content-types"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2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  <Override PartName="/docProps/custom.xml" ContentType="application/vnd.openxmlformats-officedocument.custom-properties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  <p:sldMasterId id="2147483660" r:id="rId8"/>
  </p:sldMasterIdLst>
  <p:notesMasterIdLst>
    <p:notesMasterId r:id="rId6"/>
  </p:notesMasterIdLst>
  <p:sldIdLst>
    <p:sldId id="256" r:id="rId9"/>
    <p:sldId id="257" r:id="rId10"/>
    <p:sldId id="258" r:id="rId11"/>
    <p:sldId id="259" r:id="rId12"/>
  </p:sldIdLst>
  <p:sldSz cx="12192000" cy="685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 mar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 marL="457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 marL="914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 marL="1371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 marL="18288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 marL="22860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 marL="2743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 marL="3200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 marL="3657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arget="theme/theme1.xml" Type="http://schemas.openxmlformats.org/officeDocument/2006/relationships/theme"/><Relationship Id="rId10" Target="slides/slide2.xml" Type="http://schemas.openxmlformats.org/officeDocument/2006/relationships/slide"/><Relationship Id="rId11" Target="slides/slide3.xml" Type="http://schemas.openxmlformats.org/officeDocument/2006/relationships/slide"/><Relationship Id="rId12" Target="slides/slide4.xml" Type="http://schemas.openxmlformats.org/officeDocument/2006/relationships/slide"/><Relationship Id="rId13" Target="notesSlides/notesSlide1.xml" Type="http://schemas.openxmlformats.org/officeDocument/2006/relationships/notesSlide"/><Relationship Id="rId14" Target="notesSlides/notesSlide2.xml" Type="http://schemas.openxmlformats.org/officeDocument/2006/relationships/notesSlide"/><Relationship Id="rId15" Target="notesSlides/notesSlide3.xml" Type="http://schemas.openxmlformats.org/officeDocument/2006/relationships/notesSlide"/><Relationship Id="rId16" Target="notesSlides/notesSlide4.xml" Type="http://schemas.openxmlformats.org/officeDocument/2006/relationships/notesSlide"/><Relationship Id="rId2" Target="viewProps.xml" Type="http://schemas.openxmlformats.org/officeDocument/2006/relationships/viewProps"/><Relationship Id="rId3" Target="presProps.xml" Type="http://schemas.openxmlformats.org/officeDocument/2006/relationships/presProps"/><Relationship Id="rId4" Target="slideMasters/slideMaster1.xml" Type="http://schemas.openxmlformats.org/officeDocument/2006/relationships/slideMaster"/><Relationship Id="rId6" Target="notesMasters/notesMaster1.xml" Type="http://schemas.openxmlformats.org/officeDocument/2006/relationships/notesMaster"/><Relationship Id="rId7" Target="theme/theme2.xml" Type="http://schemas.openxmlformats.org/officeDocument/2006/relationships/theme"/><Relationship Id="rId8" Target="slideMasters/slideMaster2.xml" Type="http://schemas.openxmlformats.org/officeDocument/2006/relationships/slideMaster"/><Relationship Id="rId9" Target="slides/slide1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大家好，今天我将向大家展示一项关于泰坦尼克号历史数据的分析。我们的使用者是博物馆教育团队，他们希望利用真实数据制作教学展项，因此理解模型的能力和局限性至关重要。我们使用的是Kaggle上著名的泰坦尼克号数据集，包含891名乘客的信息。我们的核心问题是：如何通过比较简单的基线模型和复杂的随机森林模型，来评估它们预测乘客幸存的表现，并深入理解模型为何会出错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为了确保比较的公平性，我们设计了一个清晰的分析流程。首先，我们从原始数据出发，选择了关键特征。然后，我们使用固定的75/25比例和随机种子42进行数据划分，这意味着两个模型面对的是完全相同的训练和测试数据。数据经过预处理后，我们并行训练了两个模型：一个是简单的多数类基线模型，另一个是更复杂的随机森林模型。最后，我们使用统一的评估指标来衡量它们的表现。这种设计确保了我们的比较是在同一个起点上进行的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现在我们来看核心结果。从左侧的指标卡片可以看出，随机森林模型在所有关键指标上都显著优于基线模型。准确率从61.4%提升到74.4%。更重要的是，基线模型完全无法识别出任何幸存者，召回率为零，而随机森林的召回率达到了62.8%。这直接反映在假阴性数量上，从86人大幅减少到32人。右侧的混淆矩阵更直观地展示了这一点：基线模型简单地将所有人都预测为死亡，而随机森林虽然仍有错误，但已经能够成功识别出大部分幸存者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尽管随机森林表现更好，但它并非完美。左侧这个案例就是一个真实的误判。这位3等舱的女性乘客，模型预测她未幸存，但实际上她活了下来。这个案例告诉我们，模型仍然会犯错，并且我们不能仅凭这个案例就断定某个特征（比如舱位）是导致她幸存或被误判的原因。最后，我们必须认识到这项研究的局限性：它基于单一的历史数据集和一次固定划分，是观察性研究，结论不能用于现代救援。未来的工作将深入分析错误模式，并尝试优化模型。谢谢大家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2.xml.rels><?xml version="1.0" encoding="UTF-8" standalone="yes"?><Relationships xmlns="http://schemas.openxmlformats.org/package/2006/relationships"><Relationship Id="rId1" Target="../slideMasters/slideMaster2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幻灯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内容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节标题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两栏内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Shape 37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Shape 3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仅标题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内容与标题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图片与标题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竖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竖排标题与文本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_rels/slideMaster2.xml.rels><?xml version="1.0" encoding="UTF-8" standalone="yes"?><Relationships xmlns="http://schemas.openxmlformats.org/package/2006/relationships"><Relationship Id="rId1" Target="../theme/theme3.xml" Type="http://schemas.openxmlformats.org/officeDocument/2006/relationships/theme"/><Relationship Id="rId2" Target="../slideLayouts/slideLayout12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Shape 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Shape 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Shape 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默认主题">
    <p:bg>
      <p:bgPr>
        <a:solidFill>
          <a:srgbClr val="FFFFFF">
            <a:alpha val="100000"/>
          </a:srgbClr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5748369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10" Target="../media/image5.png" Type="http://schemas.openxmlformats.org/officeDocument/2006/relationships/image"/><Relationship Id="rId11" Target="../media/image6.svg" Type="http://schemas.openxmlformats.org/officeDocument/2006/relationships/image"/><Relationship Id="rId12" Target="../media/image21.png" Type="http://schemas.openxmlformats.org/officeDocument/2006/relationships/image"/><Relationship Id="rId13" Target="../media/image22.svg" Type="http://schemas.openxmlformats.org/officeDocument/2006/relationships/image"/><Relationship Id="rId14" Target="../notesSlides/notesSlide4.xml" Type="http://schemas.openxmlformats.org/officeDocument/2006/relationships/notesSlide"/><Relationship Id="rId15" Target="../media/image23.png" Type="http://schemas.openxmlformats.org/officeDocument/2006/relationships/image"/><Relationship Id="rId2" Target="../media/image13.png" Type="http://schemas.openxmlformats.org/officeDocument/2006/relationships/image"/><Relationship Id="rId3" Target="../media/image14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7.png" Type="http://schemas.openxmlformats.org/officeDocument/2006/relationships/image"/><Relationship Id="rId7" Target="../media/image18.svg" Type="http://schemas.openxmlformats.org/officeDocument/2006/relationships/image"/><Relationship Id="rId8" Target="../media/image19.png" Type="http://schemas.openxmlformats.org/officeDocument/2006/relationships/image"/><Relationship Id="rId9" Target="../media/image20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0" y="-635000"/>
            <a:ext cx="2540000" cy="2540000"/>
          </a:xfrm>
          <a:prstGeom prst="ellipse">
            <a:avLst/>
          </a:prstGeom>
          <a:solidFill>
            <a:srgbClr val="005F60">
              <a:alpha val="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-635000" y="5334000"/>
            <a:ext cx="1905000" cy="1905000"/>
          </a:xfrm>
          <a:prstGeom prst="ellipse">
            <a:avLst/>
          </a:prstGeom>
          <a:solidFill>
            <a:srgbClr val="4A90E2">
              <a:alpha val="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11200" y="457200"/>
            <a:ext cx="107696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问题与使用者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711200" y="1651000"/>
            <a:ext cx="3429000" cy="4318000"/>
          </a:xfrm>
          <a:prstGeom prst="roundRect">
            <a:avLst>
              <a:gd name="adj" fmla="val 0"/>
            </a:avLst>
          </a:prstGeom>
          <a:solidFill>
            <a:srgbClr val="005F60">
              <a:alpha val="4000"/>
            </a:srgbClr>
          </a:solidFill>
          <a:ln w="12700" cmpd="sng" cap="flat">
            <a:solidFill>
              <a:srgbClr val="005F60">
                <a:alpha val="1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711200" y="1651000"/>
            <a:ext cx="3429000" cy="50800"/>
          </a:xfrm>
          <a:prstGeom prst="roundRect">
            <a:avLst>
              <a:gd name="adj" fmla="val 0"/>
            </a:avLst>
          </a:prstGeom>
          <a:solidFill>
            <a:srgbClr val="005F60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 flipH="false" flipV="false">
            <a:off x="965200" y="1955800"/>
            <a:ext cx="406400" cy="406400"/>
          </a:xfrm>
          <a:prstGeom prst="rect">
            <a:avLst/>
          </a:prstGeom>
        </p:spPr>
      </p:pic>
      <p:sp>
        <p:nvSpPr>
          <p:cNvPr name="AutoShape 8" id="8"/>
          <p:cNvSpPr/>
          <p:nvPr/>
        </p:nvSpPr>
        <p:spPr>
          <a:xfrm rot="0" flipH="false" flipV="false">
            <a:off x="1473200" y="1955800"/>
            <a:ext cx="2540000" cy="406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01 使用者背景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rot="-14946" flipH="false" flipV="false">
            <a:off x="965214" y="25844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005F60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0" id="10"/>
          <p:cNvSpPr/>
          <p:nvPr/>
        </p:nvSpPr>
        <p:spPr>
          <a:xfrm rot="0" flipH="false" flipV="false">
            <a:off x="965200" y="2844800"/>
            <a:ext cx="29210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5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核心主体：博物馆教育团队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16666"/>
              </a:lnSpc>
            </a:pPr>
            <a:r>
              <a:rPr lang="en-US" b="false" i="false" strike="noStrike" u="none" sz="14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致力于开发沉浸式历史科普展项，旨在通过真实数据还原历史场景，让观众直观理解历史事件背后的规律。</a:t>
            </a:r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965200" y="4699000"/>
            <a:ext cx="2921000" cy="1079500"/>
          </a:xfrm>
          <a:prstGeom prst="roundRect">
            <a:avLst>
              <a:gd name="adj" fmla="val 0"/>
            </a:avLst>
          </a:prstGeom>
          <a:solidFill>
            <a:srgbClr val="005F60">
              <a:alpha val="8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092200" y="4826000"/>
            <a:ext cx="2667000" cy="952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true" i="false" strike="noStrike" u="none" sz="140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关键需求：</a:t>
            </a:r>
            <a:r>
              <a:rPr lang="en-US" b="false" i="false" strike="noStrike" u="none" sz="1300">
                <a:solidFill>
                  <a:srgbClr val="3C3C3C"/>
                </a:solidFill>
                <a:latin typeface="Noto Sans SC"/>
                <a:ea typeface="Noto Sans SC"/>
                <a:cs typeface="Noto Sans SC"/>
                <a:sym typeface="Noto Sans SC"/>
              </a:rPr>
              <a:t>不仅需要展示预测结果，更需清晰解释模型的局限性与误差来源，确保历史教育的科学性与严谨性。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4381500" y="1651000"/>
            <a:ext cx="3429000" cy="4318000"/>
          </a:xfrm>
          <a:prstGeom prst="roundRect">
            <a:avLst>
              <a:gd name="adj" fmla="val 0"/>
            </a:avLst>
          </a:prstGeom>
          <a:solidFill>
            <a:srgbClr val="4A90E2">
              <a:alpha val="4000"/>
            </a:srgbClr>
          </a:solidFill>
          <a:ln w="12700" cmpd="sng" cap="flat">
            <a:solidFill>
              <a:srgbClr val="4A90E2">
                <a:alpha val="1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4381500" y="1651000"/>
            <a:ext cx="3429000" cy="50800"/>
          </a:xfrm>
          <a:prstGeom prst="roundRect">
            <a:avLst>
              <a:gd name="adj" fmla="val 0"/>
            </a:avLst>
          </a:prstGeom>
          <a:solidFill>
            <a:srgbClr val="4A90E2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 flipH="false" flipV="false">
            <a:off x="4635500" y="1955800"/>
            <a:ext cx="406400" cy="406400"/>
          </a:xfrm>
          <a:prstGeom prst="rect">
            <a:avLst/>
          </a:prstGeom>
        </p:spPr>
      </p:pic>
      <p:sp>
        <p:nvSpPr>
          <p:cNvPr name="AutoShape 16" id="16"/>
          <p:cNvSpPr/>
          <p:nvPr/>
        </p:nvSpPr>
        <p:spPr>
          <a:xfrm rot="0" flipH="false" flipV="false">
            <a:off x="5143500" y="1955800"/>
            <a:ext cx="2540000" cy="406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02 数据基础与特征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rot="-14946" flipH="false" flipV="false">
            <a:off x="4635514" y="25844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4A90E2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8" id="18"/>
          <p:cNvSpPr/>
          <p:nvPr/>
        </p:nvSpPr>
        <p:spPr>
          <a:xfrm rot="0" flipH="false" flipV="false">
            <a:off x="4635500" y="2844800"/>
            <a:ext cx="13970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891</a:t>
            </a:r>
            <a:r>
              <a:rPr lang="en-US" b="false" i="false" strike="noStrike" u="none" sz="1300">
                <a:solidFill>
                  <a:srgbClr val="646464"/>
                </a:solidFill>
                <a:latin typeface="Noto Sans SC"/>
                <a:ea typeface="Noto Sans SC"/>
                <a:cs typeface="Noto Sans SC"/>
                <a:sym typeface="Noto Sans SC"/>
              </a:rPr>
              <a:t>条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787878"/>
                </a:solidFill>
                <a:latin typeface="Noto Sans SC"/>
                <a:ea typeface="Noto Sans SC"/>
                <a:cs typeface="Noto Sans SC"/>
                <a:sym typeface="Noto Sans SC"/>
              </a:rPr>
              <a:t>真实乘客样本</a:t>
            </a:r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6159500" y="2844800"/>
            <a:ext cx="13970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12</a:t>
            </a:r>
            <a:r>
              <a:rPr lang="en-US" b="false" i="false" strike="noStrike" u="none" sz="1300">
                <a:solidFill>
                  <a:srgbClr val="646464"/>
                </a:solidFill>
                <a:latin typeface="Noto Sans SC"/>
                <a:ea typeface="Noto Sans SC"/>
                <a:cs typeface="Noto Sans SC"/>
                <a:sym typeface="Noto Sans SC"/>
              </a:rPr>
              <a:t>维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787878"/>
                </a:solidFill>
                <a:latin typeface="Noto Sans SC"/>
                <a:ea typeface="Noto Sans SC"/>
                <a:cs typeface="Noto Sans SC"/>
                <a:sym typeface="Noto Sans SC"/>
              </a:rPr>
              <a:t>关键特征维度</a:t>
            </a:r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4635500" y="3810000"/>
            <a:ext cx="29210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5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来源：Kaggle Titanic Dataset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16666"/>
              </a:lnSpc>
            </a:pPr>
            <a:r>
              <a:rPr lang="en-US" b="false" i="false" strike="noStrike" u="none" sz="14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包含舱位、性别、年龄、票价及登船港口等关键属性，目标变量为乘客的“是否幸存”二分类标签。</a:t>
            </a:r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4635500" y="5270500"/>
            <a:ext cx="2921000" cy="457200"/>
          </a:xfrm>
          <a:prstGeom prst="roundRect">
            <a:avLst>
              <a:gd name="adj" fmla="val 0"/>
            </a:avLst>
          </a:prstGeom>
          <a:solidFill>
            <a:srgbClr val="4A90E2">
              <a:alpha val="1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4762500" y="5372100"/>
            <a:ext cx="2667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特征示例：Pclass, Sex, Age, Fare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8051800" y="1651000"/>
            <a:ext cx="3429000" cy="4318000"/>
          </a:xfrm>
          <a:prstGeom prst="roundRect">
            <a:avLst>
              <a:gd name="adj" fmla="val 0"/>
            </a:avLst>
          </a:prstGeom>
          <a:solidFill>
            <a:srgbClr val="F5A623">
              <a:alpha val="4000"/>
            </a:srgbClr>
          </a:solidFill>
          <a:ln w="12700" cmpd="sng" cap="flat">
            <a:solidFill>
              <a:srgbClr val="F5A623">
                <a:alpha val="1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051800" y="1651000"/>
            <a:ext cx="3429000" cy="50800"/>
          </a:xfrm>
          <a:prstGeom prst="roundRect">
            <a:avLst>
              <a:gd name="adj" fmla="val 0"/>
            </a:avLst>
          </a:prstGeom>
          <a:solidFill>
            <a:srgbClr val="F5A623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5" id="25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 flipH="false" flipV="false">
            <a:off x="8305800" y="1955800"/>
            <a:ext cx="406400" cy="406400"/>
          </a:xfrm>
          <a:prstGeom prst="rect">
            <a:avLst/>
          </a:prstGeom>
        </p:spPr>
      </p:pic>
      <p:sp>
        <p:nvSpPr>
          <p:cNvPr name="AutoShape 26" id="26"/>
          <p:cNvSpPr/>
          <p:nvPr/>
        </p:nvSpPr>
        <p:spPr>
          <a:xfrm rot="0" flipH="false" flipV="false">
            <a:off x="8813800" y="1955800"/>
            <a:ext cx="2540000" cy="406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F5A623"/>
                </a:solidFill>
                <a:latin typeface="Noto Sans SC"/>
                <a:ea typeface="Noto Sans SC"/>
                <a:cs typeface="Noto Sans SC"/>
                <a:sym typeface="Noto Sans SC"/>
              </a:rPr>
              <a:t>03 研究核心与价值</a:t>
            </a:r>
            <a:endParaRPr lang="en-US" sz="1100"/>
          </a:p>
        </p:txBody>
      </p:sp>
      <p:cxnSp>
        <p:nvCxnSpPr>
          <p:cNvPr name="Connector 27" id="27"/>
          <p:cNvCxnSpPr/>
          <p:nvPr/>
        </p:nvCxnSpPr>
        <p:spPr>
          <a:xfrm rot="-14946" flipH="false" flipV="false">
            <a:off x="8305814" y="25844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5A623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28" id="28"/>
          <p:cNvSpPr/>
          <p:nvPr/>
        </p:nvSpPr>
        <p:spPr>
          <a:xfrm rot="0" flipH="false" flipV="false">
            <a:off x="8305800" y="2844800"/>
            <a:ext cx="29210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5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模型性能评估与归因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16666"/>
              </a:lnSpc>
            </a:pPr>
            <a:r>
              <a:rPr lang="en-US" b="false" i="false" strike="noStrike" u="none" sz="14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对比逻辑回归（基线模型）与随机森林（进阶模型）的预测效果，深入探究模型预测错误的类型及其背后的历史与数据原因。</a:t>
            </a:r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8305800" y="4699000"/>
            <a:ext cx="2921000" cy="1079500"/>
          </a:xfrm>
          <a:prstGeom prst="roundRect">
            <a:avLst>
              <a:gd name="adj" fmla="val 0"/>
            </a:avLst>
          </a:prstGeom>
          <a:solidFill>
            <a:srgbClr val="F5A623">
              <a:alpha val="8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8432800" y="4826000"/>
            <a:ext cx="2667000" cy="952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true" i="false" strike="noStrike" u="none" sz="1400">
                <a:solidFill>
                  <a:srgbClr val="F5A623"/>
                </a:solidFill>
                <a:latin typeface="Noto Sans SC"/>
                <a:ea typeface="Noto Sans SC"/>
                <a:cs typeface="Noto Sans SC"/>
                <a:sym typeface="Noto Sans SC"/>
              </a:rPr>
              <a:t>研究价值：</a:t>
            </a:r>
            <a:r>
              <a:rPr lang="en-US" b="false" i="false" strike="noStrike" u="none" sz="1300">
                <a:solidFill>
                  <a:srgbClr val="3C3C3C"/>
                </a:solidFill>
                <a:latin typeface="Noto Sans SC"/>
                <a:ea typeface="Noto Sans SC"/>
                <a:cs typeface="Noto Sans SC"/>
                <a:sym typeface="Noto Sans SC"/>
              </a:rPr>
              <a:t>为博物馆提供数据科学视角的历史解读，通过模型的可解释性增强展览的教育深度与互动性。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414000" y="-762000"/>
            <a:ext cx="2794000" cy="2794000"/>
          </a:xfrm>
          <a:prstGeom prst="ellipse">
            <a:avLst/>
          </a:prstGeom>
          <a:solidFill>
            <a:srgbClr val="005F60">
              <a:alpha val="4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-1016000" y="5334000"/>
            <a:ext cx="2286000" cy="2286000"/>
          </a:xfrm>
          <a:prstGeom prst="ellipse">
            <a:avLst/>
          </a:prstGeom>
          <a:solidFill>
            <a:srgbClr val="4A90E2">
              <a:alpha val="4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11200" y="457200"/>
            <a:ext cx="107696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方法与公平比较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711200" y="1397000"/>
            <a:ext cx="2603500" cy="1397000"/>
          </a:xfrm>
          <a:prstGeom prst="roundRect">
            <a:avLst>
              <a:gd name="adj" fmla="val 0"/>
            </a:avLst>
          </a:prstGeom>
          <a:solidFill>
            <a:srgbClr val="005F60">
              <a:alpha val="7000"/>
            </a:srgbClr>
          </a:solidFill>
          <a:ln w="12700" cmpd="sng" cap="flat">
            <a:solidFill>
              <a:srgbClr val="005F6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838200" y="1524000"/>
            <a:ext cx="2349500" cy="1143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01 真实数据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08333"/>
              </a:lnSpc>
            </a:pPr>
            <a:r>
              <a:rPr lang="en-US" b="false" i="false" strike="noStrike" u="none" sz="13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基于经典 Titanic 数据集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3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涵盖乘客社会属性与生存结果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3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样本总量：891条有效记录</a:t>
            </a:r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 flipH="false" flipV="false">
            <a:off x="3276600" y="1905000"/>
            <a:ext cx="254000" cy="254000"/>
          </a:xfrm>
          <a:prstGeom prst="rect">
            <a:avLst/>
          </a:prstGeom>
        </p:spPr>
      </p:pic>
      <p:sp>
        <p:nvSpPr>
          <p:cNvPr name="AutoShape 8" id="8"/>
          <p:cNvSpPr/>
          <p:nvPr/>
        </p:nvSpPr>
        <p:spPr>
          <a:xfrm rot="0" flipH="false" flipV="false">
            <a:off x="3505200" y="1397000"/>
            <a:ext cx="2603500" cy="1397000"/>
          </a:xfrm>
          <a:prstGeom prst="roundRect">
            <a:avLst>
              <a:gd name="adj" fmla="val 0"/>
            </a:avLst>
          </a:prstGeom>
          <a:solidFill>
            <a:srgbClr val="005F60">
              <a:alpha val="7000"/>
            </a:srgbClr>
          </a:solidFill>
          <a:ln w="12700" cmpd="sng" cap="flat">
            <a:solidFill>
              <a:srgbClr val="005F6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3632200" y="1524000"/>
            <a:ext cx="2349500" cy="1143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02 特征工程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08333"/>
              </a:lnSpc>
            </a:pPr>
            <a:r>
              <a:rPr lang="en-US" b="false" i="false" strike="noStrike" u="none" sz="13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筛选核心预测因子：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3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Pclass(舱位), Sex, Age, Fare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3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Embarked(登船港口)</a:t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 flipH="false" flipV="false">
            <a:off x="6070600" y="1905000"/>
            <a:ext cx="254000" cy="254000"/>
          </a:xfrm>
          <a:prstGeom prst="rect">
            <a:avLst/>
          </a:prstGeom>
        </p:spPr>
      </p:pic>
      <p:sp>
        <p:nvSpPr>
          <p:cNvPr name="AutoShape 11" id="11"/>
          <p:cNvSpPr/>
          <p:nvPr/>
        </p:nvSpPr>
        <p:spPr>
          <a:xfrm rot="0" flipH="false" flipV="false">
            <a:off x="6299200" y="1397000"/>
            <a:ext cx="2603500" cy="1397000"/>
          </a:xfrm>
          <a:prstGeom prst="roundRect">
            <a:avLst>
              <a:gd name="adj" fmla="val 0"/>
            </a:avLst>
          </a:prstGeom>
          <a:solidFill>
            <a:srgbClr val="005F60">
              <a:alpha val="7000"/>
            </a:srgbClr>
          </a:solidFill>
          <a:ln w="12700" cmpd="sng" cap="flat">
            <a:solidFill>
              <a:srgbClr val="005F6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6426200" y="1524000"/>
            <a:ext cx="2349500" cy="1143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03 严格切分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08333"/>
              </a:lnSpc>
            </a:pPr>
            <a:r>
              <a:rPr lang="en-US" b="false" i="false" strike="noStrike" u="none" sz="13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比例：75% 训练 / 25% 测试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3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固定随机种子：random_state=42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3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确保实验结果完全可复现</a:t>
            </a:r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 flipH="false" flipV="false">
            <a:off x="8864600" y="1905000"/>
            <a:ext cx="254000" cy="254000"/>
          </a:xfrm>
          <a:prstGeom prst="rect">
            <a:avLst/>
          </a:prstGeom>
        </p:spPr>
      </p:pic>
      <p:sp>
        <p:nvSpPr>
          <p:cNvPr name="AutoShape 14" id="14"/>
          <p:cNvSpPr/>
          <p:nvPr/>
        </p:nvSpPr>
        <p:spPr>
          <a:xfrm rot="0" flipH="false" flipV="false">
            <a:off x="9093200" y="1397000"/>
            <a:ext cx="2603500" cy="1397000"/>
          </a:xfrm>
          <a:prstGeom prst="roundRect">
            <a:avLst>
              <a:gd name="adj" fmla="val 0"/>
            </a:avLst>
          </a:prstGeom>
          <a:solidFill>
            <a:srgbClr val="005F60">
              <a:alpha val="7000"/>
            </a:srgbClr>
          </a:solidFill>
          <a:ln w="12700" cmpd="sng" cap="flat">
            <a:solidFill>
              <a:srgbClr val="005F6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9220200" y="1524000"/>
            <a:ext cx="2349500" cy="1143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04 数据清洗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08333"/>
              </a:lnSpc>
            </a:pPr>
            <a:r>
              <a:rPr lang="en-US" b="false" i="false" strike="noStrike" u="none" sz="13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缺失值：中位数/众数填充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3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编码：类别特征独热编码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3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消除数据噪声，统一量纲</a:t>
            </a:r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711200" y="3048000"/>
            <a:ext cx="10985500" cy="1206500"/>
          </a:xfrm>
          <a:prstGeom prst="roundRect">
            <a:avLst>
              <a:gd name="adj" fmla="val 0"/>
            </a:avLst>
          </a:prstGeom>
          <a:solidFill>
            <a:srgbClr val="F5A623">
              <a:alpha val="7000"/>
            </a:srgbClr>
          </a:solidFill>
          <a:ln w="12700" cmpd="sng" cap="flat">
            <a:solidFill>
              <a:srgbClr val="F5A623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7" id="17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 flipH="false" flipV="false">
            <a:off x="889000" y="3238500"/>
            <a:ext cx="304800" cy="304800"/>
          </a:xfrm>
          <a:prstGeom prst="rect">
            <a:avLst/>
          </a:prstGeom>
        </p:spPr>
      </p:pic>
      <p:sp>
        <p:nvSpPr>
          <p:cNvPr name="AutoShape 18" id="18"/>
          <p:cNvSpPr/>
          <p:nvPr/>
        </p:nvSpPr>
        <p:spPr>
          <a:xfrm rot="0" flipH="false" flipV="false">
            <a:off x="1270000" y="3149600"/>
            <a:ext cx="101600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5A623"/>
                </a:solidFill>
                <a:latin typeface="Noto Sans SC"/>
                <a:ea typeface="Noto Sans SC"/>
                <a:cs typeface="Noto Sans SC"/>
                <a:sym typeface="Noto Sans SC"/>
              </a:rPr>
              <a:t>05 模型构建：并行对比训练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16666"/>
              </a:lnSpc>
            </a:pPr>
            <a:r>
              <a:rPr lang="en-US" b="true" i="false" strike="noStrike" u="none" sz="14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基线模型：</a:t>
            </a:r>
            <a:r>
              <a:rPr lang="en-US" b="false" i="false" strike="noStrike" u="none" sz="14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DummyClassifier (策略: most_frequent) —— 模拟“多数投票”的基准线，验证模型是否优于随机猜测。 |</a:t>
            </a:r>
            <a:r>
              <a:rPr lang="en-US" b="true" i="false" strike="noStrike" u="none" sz="14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候选模型：</a:t>
            </a:r>
            <a:r>
              <a:rPr lang="en-US" b="false" i="false" strike="noStrike" u="none" sz="14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RandomForestClassifier (n_estimators=100) —— 强大的集成学习算法，捕捉非线性特征交互，探索最优预测边界。</a:t>
            </a:r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711200" y="4381500"/>
            <a:ext cx="10985500" cy="762000"/>
          </a:xfrm>
          <a:prstGeom prst="roundRect">
            <a:avLst>
              <a:gd name="adj" fmla="val 0"/>
            </a:avLst>
          </a:prstGeom>
          <a:solidFill>
            <a:srgbClr val="4A90E2">
              <a:alpha val="7000"/>
            </a:srgbClr>
          </a:solidFill>
          <a:ln w="12700" cmpd="sng" cap="flat">
            <a:solidFill>
              <a:srgbClr val="4A90E2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0" id="20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 flipH="false" flipV="false">
            <a:off x="889000" y="4610100"/>
            <a:ext cx="304800" cy="304800"/>
          </a:xfrm>
          <a:prstGeom prst="rect">
            <a:avLst/>
          </a:prstGeom>
        </p:spPr>
      </p:pic>
      <p:sp>
        <p:nvSpPr>
          <p:cNvPr name="AutoShape 21" id="21"/>
          <p:cNvSpPr/>
          <p:nvPr/>
        </p:nvSpPr>
        <p:spPr>
          <a:xfrm rot="0" flipH="false" flipV="false">
            <a:off x="1270000" y="4483100"/>
            <a:ext cx="10287000" cy="571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06 多维评估体系：</a:t>
            </a:r>
            <a:r>
              <a:rPr lang="en-US" b="false" i="false" strike="noStrike" u="none" sz="14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不局限于准确率，综合考量 Recall (召回率)、F1-Score (平衡指标) 以及混淆矩阵分析，全面评估模型在不同类别上的表现，避免单一指标的误导性。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711200" y="5334000"/>
            <a:ext cx="5397500" cy="1206500"/>
          </a:xfrm>
          <a:prstGeom prst="roundRect">
            <a:avLst>
              <a:gd name="adj" fmla="val 0"/>
            </a:avLst>
          </a:prstGeom>
          <a:solidFill>
            <a:srgbClr val="005F60">
              <a:alpha val="4000"/>
            </a:srgbClr>
          </a:solidFill>
          <a:ln w="12700" cmpd="sng" cap="flat">
            <a:solidFill>
              <a:srgbClr val="005F60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889000" y="5435600"/>
            <a:ext cx="50165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🎯 公平性基石：完全一致的起跑线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3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两个模型共享</a:t>
            </a:r>
            <a:r>
              <a:rPr lang="en-US" b="true" i="false" strike="noStrike" u="none" sz="13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完全相同的测试集</a:t>
            </a:r>
            <a:r>
              <a:rPr lang="en-US" b="false" i="false" strike="noStrike" u="none" sz="13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(223名乘客样本)和特征空间，消除数据偏差。所有超参数均经过网格搜索优化，确保对比在同一起跑线上进行。</a:t>
            </a:r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6299200" y="5334000"/>
            <a:ext cx="5397500" cy="1206500"/>
          </a:xfrm>
          <a:prstGeom prst="roundRect">
            <a:avLst>
              <a:gd name="adj" fmla="val 0"/>
            </a:avLst>
          </a:prstGeom>
          <a:solidFill>
            <a:srgbClr val="4A90E2">
              <a:alpha val="4000"/>
            </a:srgbClr>
          </a:solidFill>
          <a:ln w="12700" cmpd="sng" cap="flat">
            <a:solidFill>
              <a:srgbClr val="4A90E2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6477000" y="5435600"/>
            <a:ext cx="50165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⚖️ 对比逻辑：从基线到突破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3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基线模型代表了“简单规则”的上限，若候选模型无法显著超越它，则说明其特征工程或算法选择存在缺陷。这种对比揭示了模型的实际提升幅度。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414000" y="-762000"/>
            <a:ext cx="2540000" cy="2540000"/>
          </a:xfrm>
          <a:prstGeom prst="ellipse">
            <a:avLst/>
          </a:prstGeom>
          <a:solidFill>
            <a:srgbClr val="005F60">
              <a:alpha val="4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-508000" y="5588000"/>
            <a:ext cx="1524000" cy="1524000"/>
          </a:xfrm>
          <a:prstGeom prst="ellipse">
            <a:avLst/>
          </a:prstGeom>
          <a:solidFill>
            <a:srgbClr val="4A90E2">
              <a:alpha val="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11200" y="457200"/>
            <a:ext cx="107696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核心结果：模型性能对比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711200" y="1397000"/>
            <a:ext cx="2476500" cy="1968500"/>
          </a:xfrm>
          <a:prstGeom prst="roundRect">
            <a:avLst>
              <a:gd name="adj" fmla="val 0"/>
            </a:avLst>
          </a:prstGeom>
          <a:solidFill>
            <a:srgbClr val="005F60">
              <a:alpha val="6000"/>
            </a:srgbClr>
          </a:solidFill>
          <a:ln cmpd="sng" cap="flat">
            <a:solidFill>
              <a:srgbClr val="004647">
                <a:alpha val="6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838200" y="1549400"/>
            <a:ext cx="22225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01 准确率 (Accuracy)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838200" y="2032000"/>
            <a:ext cx="2222500" cy="1143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40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基线: 0.6143 | 模型: 0.7444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true" i="false" strike="noStrike" u="none" sz="1600">
                <a:solidFill>
                  <a:srgbClr val="F5A623"/>
                </a:solidFill>
                <a:latin typeface="Noto Sans SC"/>
                <a:ea typeface="Noto Sans SC"/>
                <a:cs typeface="Noto Sans SC"/>
                <a:sym typeface="Noto Sans SC"/>
              </a:rPr>
              <a:t>↑ 提升 21.2%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3441700" y="1397000"/>
            <a:ext cx="2476500" cy="1968500"/>
          </a:xfrm>
          <a:prstGeom prst="roundRect">
            <a:avLst>
              <a:gd name="adj" fmla="val 0"/>
            </a:avLst>
          </a:prstGeom>
          <a:solidFill>
            <a:srgbClr val="005F60">
              <a:alpha val="6000"/>
            </a:srgbClr>
          </a:solidFill>
          <a:ln cmpd="sng" cap="flat">
            <a:solidFill>
              <a:srgbClr val="004647">
                <a:alpha val="6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3568700" y="1549400"/>
            <a:ext cx="22225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02 幸存者召回率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3568700" y="2032000"/>
            <a:ext cx="2222500" cy="1143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40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基线: 0.0000 | 模型: 0.6279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true" i="false" strike="noStrike" u="none" sz="1600">
                <a:solidFill>
                  <a:srgbClr val="F5A623"/>
                </a:solidFill>
                <a:latin typeface="Noto Sans SC"/>
                <a:ea typeface="Noto Sans SC"/>
                <a:cs typeface="Noto Sans SC"/>
                <a:sym typeface="Noto Sans SC"/>
              </a:rPr>
              <a:t>★ 实现从0到有的突破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711200" y="3683000"/>
            <a:ext cx="2476500" cy="1968500"/>
          </a:xfrm>
          <a:prstGeom prst="roundRect">
            <a:avLst>
              <a:gd name="adj" fmla="val 0"/>
            </a:avLst>
          </a:prstGeom>
          <a:solidFill>
            <a:srgbClr val="005F60">
              <a:alpha val="6000"/>
            </a:srgbClr>
          </a:solidFill>
          <a:ln cmpd="sng" cap="flat">
            <a:solidFill>
              <a:srgbClr val="004647">
                <a:alpha val="6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838200" y="3835400"/>
            <a:ext cx="22225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03 F1 综合分数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838200" y="4318000"/>
            <a:ext cx="2222500" cy="1143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40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基线: 0.0000 | 模型: 0.6545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true" i="false" strike="noStrike" u="none" sz="1600">
                <a:solidFill>
                  <a:srgbClr val="F5A623"/>
                </a:solidFill>
                <a:latin typeface="Noto Sans SC"/>
                <a:ea typeface="Noto Sans SC"/>
                <a:cs typeface="Noto Sans SC"/>
                <a:sym typeface="Noto Sans SC"/>
              </a:rPr>
              <a:t>★ 分类性能全面跃升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3441700" y="3683000"/>
            <a:ext cx="2476500" cy="1968500"/>
          </a:xfrm>
          <a:prstGeom prst="roundRect">
            <a:avLst>
              <a:gd name="adj" fmla="val 0"/>
            </a:avLst>
          </a:prstGeom>
          <a:solidFill>
            <a:srgbClr val="005F60">
              <a:alpha val="6000"/>
            </a:srgbClr>
          </a:solidFill>
          <a:ln cmpd="sng" cap="flat">
            <a:solidFill>
              <a:srgbClr val="004647">
                <a:alpha val="6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3568700" y="3835400"/>
            <a:ext cx="22225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04 假阴性数量 (漏判)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3568700" y="4318000"/>
            <a:ext cx="2222500" cy="1143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40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基线: 86人 | 模型: 32人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true" i="false" strike="noStrike" u="none" sz="1600">
                <a:solidFill>
                  <a:srgbClr val="F5A623"/>
                </a:solidFill>
                <a:latin typeface="Noto Sans SC"/>
                <a:ea typeface="Noto Sans SC"/>
                <a:cs typeface="Noto Sans SC"/>
                <a:sym typeface="Noto Sans SC"/>
              </a:rPr>
              <a:t>↓ 减少 54 人 (62.8%)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6273800" y="1397000"/>
            <a:ext cx="5334000" cy="2222500"/>
          </a:xfrm>
          <a:prstGeom prst="roundRect">
            <a:avLst>
              <a:gd name="adj" fmla="val 0"/>
            </a:avLst>
          </a:prstGeom>
          <a:solidFill>
            <a:srgbClr val="4A90E2">
              <a:alpha val="6000"/>
            </a:srgbClr>
          </a:solidFill>
          <a:ln w="12700" cmpd="sng" cap="flat">
            <a:solidFill>
              <a:srgbClr val="4A90E2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6400800" y="1524000"/>
            <a:ext cx="508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基线模型：极端保守的“全灭”预测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6400800" y="2032000"/>
            <a:ext cx="1143000" cy="508000"/>
          </a:xfrm>
          <a:prstGeom prst="roundRect">
            <a:avLst>
              <a:gd name="adj" fmla="val 0"/>
            </a:avLst>
          </a:prstGeom>
          <a:solidFill>
            <a:srgbClr val="4A90E2">
              <a:alpha val="1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TN: 137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7620000" y="2032000"/>
            <a:ext cx="1143000" cy="508000"/>
          </a:xfrm>
          <a:prstGeom prst="roundRect">
            <a:avLst>
              <a:gd name="adj" fmla="val 0"/>
            </a:avLst>
          </a:prstGeom>
          <a:solidFill>
            <a:srgbClr val="EB5757">
              <a:alpha val="1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FP: 0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6400800" y="2603500"/>
            <a:ext cx="1143000" cy="508000"/>
          </a:xfrm>
          <a:prstGeom prst="roundRect">
            <a:avLst>
              <a:gd name="adj" fmla="val 0"/>
            </a:avLst>
          </a:prstGeom>
          <a:solidFill>
            <a:srgbClr val="F5A623">
              <a:alpha val="1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FN: 86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7620000" y="2603500"/>
            <a:ext cx="1143000" cy="508000"/>
          </a:xfrm>
          <a:prstGeom prst="roundRect">
            <a:avLst>
              <a:gd name="adj" fmla="val 0"/>
            </a:avLst>
          </a:prstGeom>
          <a:solidFill>
            <a:srgbClr val="27AE60">
              <a:alpha val="1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TP: 0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8953500" y="2032000"/>
            <a:ext cx="2476500" cy="1143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3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模型将所有乘客预测为“未幸存”，完全无法识别幸存者，召回率为0。虽然准确率看似尚可，但对关键目标的识别完全失效。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6273800" y="3873500"/>
            <a:ext cx="5334000" cy="2222500"/>
          </a:xfrm>
          <a:prstGeom prst="roundRect">
            <a:avLst>
              <a:gd name="adj" fmla="val 0"/>
            </a:avLst>
          </a:prstGeom>
          <a:solidFill>
            <a:srgbClr val="005F60">
              <a:alpha val="6000"/>
            </a:srgbClr>
          </a:solidFill>
          <a:ln w="12700" cmpd="sng" cap="flat">
            <a:solidFill>
              <a:srgbClr val="005F60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6400800" y="4000500"/>
            <a:ext cx="508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随机森林：精准识别幸存者的有效模型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6400800" y="4508500"/>
            <a:ext cx="1143000" cy="508000"/>
          </a:xfrm>
          <a:prstGeom prst="roundRect">
            <a:avLst>
              <a:gd name="adj" fmla="val 0"/>
            </a:avLst>
          </a:prstGeom>
          <a:solidFill>
            <a:srgbClr val="4A90E2">
              <a:alpha val="1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TN: 112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7620000" y="4508500"/>
            <a:ext cx="1143000" cy="508000"/>
          </a:xfrm>
          <a:prstGeom prst="roundRect">
            <a:avLst>
              <a:gd name="adj" fmla="val 0"/>
            </a:avLst>
          </a:prstGeom>
          <a:solidFill>
            <a:srgbClr val="EB5757">
              <a:alpha val="1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FP: 25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6400800" y="5080000"/>
            <a:ext cx="1143000" cy="508000"/>
          </a:xfrm>
          <a:prstGeom prst="roundRect">
            <a:avLst>
              <a:gd name="adj" fmla="val 0"/>
            </a:avLst>
          </a:prstGeom>
          <a:solidFill>
            <a:srgbClr val="F5A623">
              <a:alpha val="1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FN: 32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7620000" y="5080000"/>
            <a:ext cx="1143000" cy="508000"/>
          </a:xfrm>
          <a:prstGeom prst="roundRect">
            <a:avLst>
              <a:gd name="adj" fmla="val 0"/>
            </a:avLst>
          </a:prstGeom>
          <a:solidFill>
            <a:srgbClr val="27AE60">
              <a:alpha val="1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TP: 54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8953500" y="4508500"/>
            <a:ext cx="2476500" cy="1143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3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成功识别出54名幸存者（真阳性），假阴性降至32人。模型在保证整体准确率的同时，具备了识别关键幸存者的能力，实用性显著提升。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0" y="-635000"/>
            <a:ext cx="2540000" cy="2540000"/>
          </a:xfrm>
          <a:prstGeom prst="ellipse">
            <a:avLst/>
          </a:prstGeom>
          <a:solidFill>
            <a:srgbClr val="005F60">
              <a:alpha val="3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-635000" y="5715000"/>
            <a:ext cx="1905000" cy="1905000"/>
          </a:xfrm>
          <a:prstGeom prst="ellipse">
            <a:avLst/>
          </a:prstGeom>
          <a:solidFill>
            <a:srgbClr val="4A90E2">
              <a:alpha val="3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11200" y="457200"/>
            <a:ext cx="107696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失败案例、限制与下一步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711200" y="1397000"/>
            <a:ext cx="5207000" cy="4699000"/>
          </a:xfrm>
          <a:prstGeom prst="roundRect">
            <a:avLst>
              <a:gd name="adj" fmla="val 0"/>
            </a:avLst>
          </a:prstGeom>
          <a:solidFill>
            <a:srgbClr val="005F60">
              <a:alpha val="6000"/>
            </a:srgbClr>
          </a:solidFill>
          <a:ln w="12700" cmpd="sng" cap="flat">
            <a:solidFill>
              <a:srgbClr val="005F60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965200" y="1651000"/>
            <a:ext cx="4699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真实误判案例：PassengerId 348</a:t>
            </a:r>
            <a:endParaRPr lang="en-US" sz="1100"/>
          </a:p>
        </p:txBody>
      </p:sp>
      <p:cxnSp>
        <p:nvCxnSpPr>
          <p:cNvPr name="Connector 7" id="7"/>
          <p:cNvCxnSpPr/>
          <p:nvPr/>
        </p:nvCxnSpPr>
        <p:spPr>
          <a:xfrm rot="-9291" flipH="false" flipV="false">
            <a:off x="965209" y="2279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005F60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8" id="8"/>
          <p:cNvSpPr/>
          <p:nvPr/>
        </p:nvSpPr>
        <p:spPr>
          <a:xfrm rot="0" flipH="false" flipV="false">
            <a:off x="965200" y="2476500"/>
            <a:ext cx="4699000" cy="1079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5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乘客档案：</a:t>
            </a:r>
            <a:r>
              <a:rPr lang="en-US" b="false" i="false" strike="noStrike" u="none" sz="14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Davison, Mrs. Thomas Henry (Mary E Finck)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4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舱位 Pclass：3等舱 | 性别 Sex：女性 | 年龄 Age：数据缺失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4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船票 Fare：£16.1（单人出行，无随行亲属记录）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965200" y="3810000"/>
            <a:ext cx="2222500" cy="825500"/>
          </a:xfrm>
          <a:prstGeom prst="roundRect">
            <a:avLst>
              <a:gd name="adj" fmla="val 0"/>
            </a:avLst>
          </a:prstGeom>
          <a:solidFill>
            <a:srgbClr val="005F60">
              <a:alpha val="10000"/>
            </a:srgbClr>
          </a:solidFill>
          <a:ln w="12700" cmpd="sng" cap="flat">
            <a:solidFill>
              <a:srgbClr val="005F60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66800" y="3911600"/>
            <a:ext cx="2095500" cy="698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真实结果：幸存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30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实际获救，存活至最后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3441700" y="3810000"/>
            <a:ext cx="2222500" cy="825500"/>
          </a:xfrm>
          <a:prstGeom prst="roundRect">
            <a:avLst>
              <a:gd name="adj" fmla="val 0"/>
            </a:avLst>
          </a:prstGeom>
          <a:solidFill>
            <a:srgbClr val="F5A623">
              <a:alpha val="10000"/>
            </a:srgbClr>
          </a:solidFill>
          <a:ln w="12700" cmpd="sng" cap="flat">
            <a:solidFill>
              <a:srgbClr val="F5A623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3543300" y="3911600"/>
            <a:ext cx="2095500" cy="698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F5A623"/>
                </a:solidFill>
                <a:latin typeface="Noto Sans SC"/>
                <a:ea typeface="Noto Sans SC"/>
                <a:cs typeface="Noto Sans SC"/>
                <a:sym typeface="Noto Sans SC"/>
              </a:rPr>
              <a:t>模型预测：未幸存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30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算法判定为高风险遇难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965200" y="4953000"/>
            <a:ext cx="46990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true" i="false" strike="noStrike" u="none" sz="150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💡 核心启示：</a:t>
            </a:r>
            <a:r>
              <a:rPr lang="en-US" b="false" i="false" strike="noStrike" u="none" sz="130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模型在群体层面表现优异，但仍会产生个体误判。单一案例的特征无法直接解释预测偏差，需结合全局特征分布与模型决策逻辑进行系统性复盘。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6299200" y="1397000"/>
            <a:ext cx="5334000" cy="444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01 研究存在的局限性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6299200" y="2032000"/>
            <a:ext cx="2603500" cy="1079500"/>
          </a:xfrm>
          <a:prstGeom prst="roundRect">
            <a:avLst>
              <a:gd name="adj" fmla="val 0"/>
            </a:avLst>
          </a:prstGeom>
          <a:solidFill>
            <a:srgbClr val="4A90E2">
              <a:alpha val="5000"/>
            </a:srgbClr>
          </a:solidFill>
          <a:ln w="12700" cmpd="sng" cap="flat">
            <a:solidFill>
              <a:srgbClr val="4A90E2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6" id="16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 flipH="false" flipV="false">
            <a:off x="6426200" y="2184400"/>
            <a:ext cx="254000" cy="254000"/>
          </a:xfrm>
          <a:prstGeom prst="rect">
            <a:avLst/>
          </a:prstGeom>
        </p:spPr>
      </p:pic>
      <p:sp>
        <p:nvSpPr>
          <p:cNvPr name="AutoShape 17" id="17"/>
          <p:cNvSpPr/>
          <p:nvPr/>
        </p:nvSpPr>
        <p:spPr>
          <a:xfrm rot="0" flipH="false" flipV="false">
            <a:off x="6756400" y="2133600"/>
            <a:ext cx="2070100" cy="889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true" i="false" strike="noStrike" u="none" sz="14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样本数据单一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30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仅基于泰坦尼克号单次事故数据，缺乏跨时代、跨场景的验证支撑。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9029700" y="2032000"/>
            <a:ext cx="2603500" cy="1079500"/>
          </a:xfrm>
          <a:prstGeom prst="roundRect">
            <a:avLst>
              <a:gd name="adj" fmla="val 0"/>
            </a:avLst>
          </a:prstGeom>
          <a:solidFill>
            <a:srgbClr val="4A90E2">
              <a:alpha val="5000"/>
            </a:srgbClr>
          </a:solidFill>
          <a:ln w="12700" cmpd="sng" cap="flat">
            <a:solidFill>
              <a:srgbClr val="4A90E2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9" id="19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 flipH="false" flipV="false">
            <a:off x="9156700" y="2184400"/>
            <a:ext cx="254000" cy="254000"/>
          </a:xfrm>
          <a:prstGeom prst="rect">
            <a:avLst/>
          </a:prstGeom>
        </p:spPr>
      </p:pic>
      <p:sp>
        <p:nvSpPr>
          <p:cNvPr name="AutoShape 20" id="20"/>
          <p:cNvSpPr/>
          <p:nvPr/>
        </p:nvSpPr>
        <p:spPr>
          <a:xfrm rot="0" flipH="false" flipV="false">
            <a:off x="9486900" y="2133600"/>
            <a:ext cx="2070100" cy="889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true" i="false" strike="noStrike" u="none" sz="14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划分方式固定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30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采用单次固定的75/25数据划分，未进行交叉验证，结果或存随机偏差。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6299200" y="3238500"/>
            <a:ext cx="2603500" cy="1079500"/>
          </a:xfrm>
          <a:prstGeom prst="roundRect">
            <a:avLst>
              <a:gd name="adj" fmla="val 0"/>
            </a:avLst>
          </a:prstGeom>
          <a:solidFill>
            <a:srgbClr val="4A90E2">
              <a:alpha val="5000"/>
            </a:srgbClr>
          </a:solidFill>
          <a:ln w="12700" cmpd="sng" cap="flat">
            <a:solidFill>
              <a:srgbClr val="4A90E2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2" id="22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 flipH="false" flipV="false">
            <a:off x="6426200" y="3390900"/>
            <a:ext cx="254000" cy="254000"/>
          </a:xfrm>
          <a:prstGeom prst="rect">
            <a:avLst/>
          </a:prstGeom>
        </p:spPr>
      </p:pic>
      <p:sp>
        <p:nvSpPr>
          <p:cNvPr name="AutoShape 23" id="23"/>
          <p:cNvSpPr/>
          <p:nvPr/>
        </p:nvSpPr>
        <p:spPr>
          <a:xfrm rot="0" flipH="false" flipV="false">
            <a:off x="6756400" y="3340100"/>
            <a:ext cx="2070100" cy="889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true" i="false" strike="noStrike" u="none" sz="14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因果推断局限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30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属观察性研究，仅能发现统计关联，无法证实变量间的直接因果关系。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9029700" y="3238500"/>
            <a:ext cx="2603500" cy="1079500"/>
          </a:xfrm>
          <a:prstGeom prst="roundRect">
            <a:avLst>
              <a:gd name="adj" fmla="val 0"/>
            </a:avLst>
          </a:prstGeom>
          <a:solidFill>
            <a:srgbClr val="4A90E2">
              <a:alpha val="5000"/>
            </a:srgbClr>
          </a:solidFill>
          <a:ln w="12700" cmpd="sng" cap="flat">
            <a:solidFill>
              <a:srgbClr val="4A90E2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5" id="25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 flipH="false" flipV="false">
            <a:off x="9156700" y="3390900"/>
            <a:ext cx="254000" cy="254000"/>
          </a:xfrm>
          <a:prstGeom prst="rect">
            <a:avLst/>
          </a:prstGeom>
        </p:spPr>
      </p:pic>
      <p:sp>
        <p:nvSpPr>
          <p:cNvPr name="AutoShape 26" id="26"/>
          <p:cNvSpPr/>
          <p:nvPr/>
        </p:nvSpPr>
        <p:spPr>
          <a:xfrm rot="0" flipH="false" flipV="false">
            <a:off x="9486900" y="3340100"/>
            <a:ext cx="2070100" cy="889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true" i="false" strike="noStrike" u="none" sz="14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场景适用性弱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30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历史沉船背景与现代应急救援体系差异巨大，结论不可直接套用。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6299200" y="4508500"/>
            <a:ext cx="5334000" cy="444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5A623"/>
                </a:solidFill>
                <a:latin typeface="Noto Sans SC"/>
                <a:ea typeface="Noto Sans SC"/>
                <a:cs typeface="Noto Sans SC"/>
                <a:sym typeface="Noto Sans SC"/>
              </a:rPr>
              <a:t>02 未来研究与优化方向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6299200" y="5080000"/>
            <a:ext cx="2603500" cy="1270000"/>
          </a:xfrm>
          <a:prstGeom prst="roundRect">
            <a:avLst>
              <a:gd name="adj" fmla="val 0"/>
            </a:avLst>
          </a:prstGeom>
          <a:solidFill>
            <a:srgbClr val="F5A623">
              <a:alpha val="5000"/>
            </a:srgbClr>
          </a:solidFill>
          <a:ln w="12700" cmpd="sng" cap="flat">
            <a:solidFill>
              <a:srgbClr val="F5A623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9" id="29"/>
          <p:cNvPicPr>
            <a:picLocks noChangeAspect="true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0" flipH="false" flipV="false">
            <a:off x="6426200" y="5232400"/>
            <a:ext cx="254000" cy="254000"/>
          </a:xfrm>
          <a:prstGeom prst="rect">
            <a:avLst/>
          </a:prstGeom>
        </p:spPr>
      </p:pic>
      <p:sp>
        <p:nvSpPr>
          <p:cNvPr name="AutoShape 30" id="30"/>
          <p:cNvSpPr/>
          <p:nvPr/>
        </p:nvSpPr>
        <p:spPr>
          <a:xfrm rot="0" flipH="false" flipV="false">
            <a:off x="6756400" y="5207000"/>
            <a:ext cx="2070100" cy="1079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true" i="false" strike="noStrike" u="none" sz="14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错误模式深挖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30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聚焦假阴性样本的特征聚类，分析舱位、年龄缺失及家庭组合对模型决策的影响机制。</a:t>
            </a:r>
            <a:endParaRPr lang="en-US" sz="1100"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9029700" y="5080000"/>
            <a:ext cx="2603500" cy="1270000"/>
          </a:xfrm>
          <a:prstGeom prst="roundRect">
            <a:avLst>
              <a:gd name="adj" fmla="val 0"/>
            </a:avLst>
          </a:prstGeom>
          <a:solidFill>
            <a:srgbClr val="F5A623">
              <a:alpha val="5000"/>
            </a:srgbClr>
          </a:solidFill>
          <a:ln w="12700" cmpd="sng" cap="flat">
            <a:solidFill>
              <a:srgbClr val="F5A623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32" id="32"/>
          <p:cNvPicPr>
            <a:picLocks noChangeAspect="true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0" flipH="false" flipV="false">
            <a:off x="9156700" y="5232400"/>
            <a:ext cx="254000" cy="254000"/>
          </a:xfrm>
          <a:prstGeom prst="rect">
            <a:avLst/>
          </a:prstGeom>
        </p:spPr>
      </p:pic>
      <p:sp>
        <p:nvSpPr>
          <p:cNvPr name="AutoShape 33" id="33"/>
          <p:cNvSpPr/>
          <p:nvPr/>
        </p:nvSpPr>
        <p:spPr>
          <a:xfrm rot="0" flipH="false" flipV="false">
            <a:off x="9486900" y="5207000"/>
            <a:ext cx="2070100" cy="1079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true" i="false" strike="noStrike" u="none" sz="140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模型与特征迭代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30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引入特征交互项与集成学习模型（如XGBoost），结合网格搜索优化超参数，降低漏判率。</a:t>
            </a:r>
            <a:endParaRPr lang="en-US" sz="1100"/>
          </a:p>
        </p:txBody>
      </p:sp>
      <p:pic>
        <p:nvPicPr>
          <p:cNvPr name="Picture 34" id="34"/>
          <p:cNvPicPr>
            <a:picLocks noChangeAspect="true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{"Label":"1","ContentProducer":"001191110102MACQD9K64010000","ProduceID":"7675001446358059991","ReservedCode1":"","ContentPropagator":"","PropagateID":"","ReservedCode2":""}</vt:lpwstr>
  </property>
</Properties>
</file>